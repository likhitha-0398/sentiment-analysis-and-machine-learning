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410" r:id="rId5"/>
    <p:sldId id="391" r:id="rId6"/>
    <p:sldId id="411" r:id="rId7"/>
    <p:sldId id="413" r:id="rId8"/>
    <p:sldId id="412" r:id="rId9"/>
    <p:sldId id="414" r:id="rId10"/>
    <p:sldId id="416" r:id="rId11"/>
    <p:sldId id="415" r:id="rId12"/>
    <p:sldId id="417" r:id="rId13"/>
    <p:sldId id="419" r:id="rId14"/>
    <p:sldId id="426" r:id="rId15"/>
    <p:sldId id="420" r:id="rId16"/>
    <p:sldId id="418" r:id="rId17"/>
    <p:sldId id="423" r:id="rId18"/>
    <p:sldId id="424" r:id="rId19"/>
    <p:sldId id="427" r:id="rId20"/>
    <p:sldId id="42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19" d="100"/>
          <a:sy n="119" d="100"/>
        </p:scale>
        <p:origin x="27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eras-team/keras" TargetMode="External"/><Relationship Id="rId3" Type="http://schemas.openxmlformats.org/officeDocument/2006/relationships/hyperlink" Target="https://doi.org/10.1109/FE.2020.8457789" TargetMode="External"/><Relationship Id="rId7" Type="http://schemas.openxmlformats.org/officeDocument/2006/relationships/hyperlink" Target="https://textblob.readthedocs.io/en/dev/" TargetMode="External"/><Relationship Id="rId2" Type="http://schemas.openxmlformats.org/officeDocument/2006/relationships/hyperlink" Target="https://doi.org/10.1016/j.jocs.2010.12.007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cjhutto/vaderSentiment" TargetMode="External"/><Relationship Id="rId5" Type="http://schemas.openxmlformats.org/officeDocument/2006/relationships/hyperlink" Target="https://www.yahoo.com/finance" TargetMode="External"/><Relationship Id="rId4" Type="http://schemas.openxmlformats.org/officeDocument/2006/relationships/hyperlink" Target="https://www.kaggle.com/datasets/sbhatti/financial-sentiment-analysi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760" y="1280160"/>
            <a:ext cx="9570719" cy="387096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0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CIS 530: ADVANCED DATA MINING </a:t>
            </a:r>
            <a:br>
              <a:rPr lang="en-IN" sz="3200" b="0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0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0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Team Project</a:t>
            </a:r>
            <a:br>
              <a:rPr lang="en-IN" sz="3200" b="0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0" dirty="0"/>
            </a:br>
            <a:r>
              <a:rPr lang="en-IN" sz="3200" b="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Title: "Critical Applications: Predicting Stock Market Trends Through Sentiment Analysis and Machine Learning“</a:t>
            </a:r>
            <a:endParaRPr lang="en-US" sz="32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4BEBE-D384-05DB-1982-C305480A263F}"/>
              </a:ext>
            </a:extLst>
          </p:cNvPr>
          <p:cNvSpPr txBox="1"/>
          <p:nvPr/>
        </p:nvSpPr>
        <p:spPr>
          <a:xfrm>
            <a:off x="7569200" y="5608786"/>
            <a:ext cx="4529766" cy="52322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IN" sz="1400" i="1" kern="1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:</a:t>
            </a:r>
            <a:br>
              <a:rPr lang="en-IN" sz="1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Sree Likhitha Ninarapu (Student ID: 02147323)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54356"/>
            <a:ext cx="10873740" cy="978203"/>
          </a:xfrm>
        </p:spPr>
        <p:txBody>
          <a:bodyPr/>
          <a:lstStyle/>
          <a:p>
            <a:r>
              <a:rPr lang="en-US" sz="3200" b="1" dirty="0"/>
              <a:t>Introduction to Stock Market Prediction through Sentiment 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01360" y="1432559"/>
            <a:ext cx="6035040" cy="4773614"/>
          </a:xfrm>
        </p:spPr>
        <p:txBody>
          <a:bodyPr>
            <a:normAutofit fontScale="55000" lnSpcReduction="20000"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3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Objective:</a:t>
            </a:r>
          </a:p>
          <a:p>
            <a:pPr marL="402336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IN" sz="3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Predict stock market trends using sentiment analysis of financial news headlines.</a:t>
            </a:r>
          </a:p>
          <a:p>
            <a:pPr marL="402336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IN" sz="3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Combine sentiment data with historical stock prices to forecast market movements (up, down, stable).</a:t>
            </a:r>
          </a:p>
          <a:p>
            <a:pPr marL="402336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33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3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Techniques:</a:t>
            </a:r>
          </a:p>
          <a:p>
            <a:pPr marL="402336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IN" sz="3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analysis using Vader Sentiment and </a:t>
            </a:r>
            <a:r>
              <a:rPr lang="en-IN" sz="33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TextBlob</a:t>
            </a:r>
            <a:r>
              <a:rPr lang="en-IN" sz="3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402336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IN" sz="3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Machine learning models: Logistic Regression, Random Forest, LSTM (Long Short-Term Memory) networks for time-series prediction.</a:t>
            </a:r>
          </a:p>
          <a:p>
            <a:pPr marL="402336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</a:pPr>
            <a:endParaRPr lang="en-IN" sz="33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3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Dataset:</a:t>
            </a:r>
          </a:p>
          <a:p>
            <a:pPr marL="402336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3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Sentiment Analysis Dataset (from Kaggle) and Yahoo Finance Data.</a:t>
            </a:r>
          </a:p>
          <a:p>
            <a:pPr marL="457200" lvl="1" indent="0">
              <a:buNone/>
            </a:pPr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FA5E1-4493-A127-BCAA-00F48237B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9"/>
          <a:stretch/>
        </p:blipFill>
        <p:spPr>
          <a:xfrm>
            <a:off x="557530" y="1859280"/>
            <a:ext cx="4890776" cy="376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9CAD-3EA9-2433-454E-3D27976B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46165"/>
            <a:ext cx="10873740" cy="716280"/>
          </a:xfrm>
        </p:spPr>
        <p:txBody>
          <a:bodyPr/>
          <a:lstStyle/>
          <a:p>
            <a:r>
              <a:rPr lang="en-US" sz="3200" b="1" dirty="0"/>
              <a:t>The Power of Sentiment in Financial Markets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280D490-8428-01A5-BF17-B1F4F4EA656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26721" y="1634136"/>
            <a:ext cx="644144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Sentiment Analysis?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analysis extracts emotional tone from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news can influence stock prices directly as investors react to positive or negative sentiments.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Positive Sentiment: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“Tech stocks soar after record earnings” → Stock price rises.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Negative Sentiment: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“Global recession fears rise” → Stock price falls.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Why It Matters: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provides context beyond hard data, adding a psychological dimension to market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52BBE4-8AB6-002D-0D86-05CCCA5A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751" y="2516194"/>
            <a:ext cx="4697026" cy="267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17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91CAE4-E276-9261-8304-849075D3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6902-489E-19AF-4183-200019E3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45832"/>
            <a:ext cx="10873740" cy="951168"/>
          </a:xfrm>
        </p:spPr>
        <p:txBody>
          <a:bodyPr/>
          <a:lstStyle/>
          <a:p>
            <a:r>
              <a:rPr lang="en-US" sz="3200" b="1" dirty="0"/>
              <a:t>Related Work: Sentiment Analysis in Stock Market Forecasting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62A3939-95C8-B606-B991-90191BAF5C9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556664" y="1813980"/>
            <a:ext cx="515435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Previous Research: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Bollen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et al. (2011):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Explored the impact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Twitter sentiment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on stock market movements.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Hu et al. (2020):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Analyzed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headlines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using machine learning models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Support Vector Machines (SVM)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Challenges in Prior Research: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Limited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traditional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lacked advanced deep learning methods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 integration of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numerical stock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09A33-BE27-D2F5-127D-4B5B0CB67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8" r="9881"/>
          <a:stretch/>
        </p:blipFill>
        <p:spPr>
          <a:xfrm>
            <a:off x="322119" y="1943100"/>
            <a:ext cx="596936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4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85E44B-A099-0A67-1B26-E097E516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63B12-ABC9-7B0C-2488-4F9416E6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60" y="535392"/>
            <a:ext cx="10873740" cy="533400"/>
          </a:xfrm>
        </p:spPr>
        <p:txBody>
          <a:bodyPr/>
          <a:lstStyle/>
          <a:p>
            <a:r>
              <a:rPr lang="en-US" sz="3200" b="1" dirty="0"/>
              <a:t>Problem Definition: Predicting Stock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665C0DF-DA17-B06F-3361-3906F18B6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596807D-841D-D3E4-6F9F-2DEC2DB59F9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07060" y="1594105"/>
            <a:ext cx="66675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kumimoji="0" lang="en-US" altLang="en-US" sz="1800" b="1" u="sng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ORE RESEARCH 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Can we predict stock market trends (up, down, or stable) using both sentiment and numerical stock data?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sng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Alignment: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Aligning sentiment data with stock price movements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Ambiguity: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Headlines with mixed sentiment (positive and negative).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Time-Series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Stock prices are sequential, needing models that can capture these long-term dependencies.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sng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Build a robust model that combines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numerical stock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predict market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5A1500-EE9A-A7F6-86AA-87DF4FC52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4" r="6411"/>
          <a:stretch/>
        </p:blipFill>
        <p:spPr>
          <a:xfrm>
            <a:off x="7636873" y="2161584"/>
            <a:ext cx="4263027" cy="264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9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0C3D-C4F1-25E7-9C0D-9736381B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228600"/>
            <a:ext cx="10873740" cy="543560"/>
          </a:xfrm>
        </p:spPr>
        <p:txBody>
          <a:bodyPr/>
          <a:lstStyle/>
          <a:p>
            <a:r>
              <a:rPr lang="en-US" sz="3200" b="1" dirty="0"/>
              <a:t>Methodology - Extracting and Processing Sentiment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AB6AFD-3939-7103-483D-C1932304EA8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75372" y="3673334"/>
            <a:ext cx="10386378" cy="2956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ANALYSIS TOOLS: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Vader Sentiment: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Analyzes emotive text and is perfect for headlines.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TextBlob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Provides both polarity (positive/negative) and subjectivity (factual/opinionated).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Scores: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Extract sentiment from financial news and assign a score for positive, neutral, or negative sentiment.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Importance of Sentiment Data: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Captures emotional tone from the news, directly influencing investor behavior.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66ECE-409A-C0E6-8514-A8D1C81A5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832" y="997676"/>
            <a:ext cx="6998335" cy="26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5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4860CE-5FE3-A47C-6DDF-967AC868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686D-9684-CCCC-33FE-2E1C29AA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" y="605791"/>
            <a:ext cx="10873740" cy="492760"/>
          </a:xfrm>
        </p:spPr>
        <p:txBody>
          <a:bodyPr/>
          <a:lstStyle/>
          <a:p>
            <a:r>
              <a:rPr lang="en-US" sz="3200" b="1" dirty="0"/>
              <a:t>Methodology - 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55B1AB-5832-9E8C-3941-AC5B6DE057F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94360" y="1900566"/>
            <a:ext cx="6466840" cy="376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TRANSFORMATION:</a:t>
            </a:r>
            <a:endParaRPr lang="en-U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Aggregation:</a:t>
            </a: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Calculate daily or weekly sentiment averages.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Numerical Stock Features:</a:t>
            </a:r>
            <a:endParaRPr lang="en-U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Moving averages (10-day, 50-day), price volatility, and lagged returns.</a:t>
            </a:r>
          </a:p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 COMBINATION:</a:t>
            </a:r>
            <a:endParaRPr lang="en-U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Combine sentiment features with historical stock data to improve prediction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DEC4D-0873-A2EB-6632-89636FA4C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200" y="2287693"/>
            <a:ext cx="5002696" cy="281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63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9ED956-F8BB-6C56-D7B2-F9FCB1C5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7B25-BDAA-B723-779C-0D2A8386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250256"/>
            <a:ext cx="10873740" cy="502931"/>
          </a:xfrm>
        </p:spPr>
        <p:txBody>
          <a:bodyPr/>
          <a:lstStyle/>
          <a:p>
            <a:r>
              <a:rPr lang="en-US" sz="3200" b="1" dirty="0"/>
              <a:t>Model Development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28E7DF-8D3B-1777-5320-F4F17CAC9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69" y="856952"/>
            <a:ext cx="1042415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Predict stock market movements (Rise/Fall) based on the sentiment of news headlines.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Text Normalization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Convert sentences to lowercase.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Stopword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Removal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Eliminate common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stopwords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using NLTK.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Mapping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Map sentiments to binary outcomes (1 = Rise, 0 = Fall).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Modeling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Logistic 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Simple linear model for binary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 Forest 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Ensemble method for improved accuracy and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Text Vectorization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TF-IDF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Converts text data into numerical features, limited to 5,000 features for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Classification Report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Precision, recall, F1-score, and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Confusion Matrix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Visualizes true vs. predicted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Performance Comparison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Test Splits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Evaluation across different train-test splits (20%, 25%, 30%).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30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DA11-E462-17D8-CECD-A4980FAA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45" y="294010"/>
            <a:ext cx="10873740" cy="482600"/>
          </a:xfrm>
        </p:spPr>
        <p:txBody>
          <a:bodyPr/>
          <a:lstStyle/>
          <a:p>
            <a:r>
              <a:rPr lang="en-US" sz="3200" b="1" dirty="0"/>
              <a:t>Training and Evaluation - Optimizing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4D803-3C31-9D76-F6DE-DFA480C3F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21" y="1279358"/>
            <a:ext cx="5325218" cy="1733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256F9-226C-7033-66E2-74ABCA63D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015" y="3429000"/>
            <a:ext cx="4944165" cy="1981477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61CF2ED6-A007-3C2C-2333-9590D5853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76" y="1140859"/>
            <a:ext cx="553414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TRAINING STRATEGY: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80% training, 20% testing (default)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Different splits (20%, 25%, 30%) used for model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Logistic Regression: Default solver (e.g., LBFGS).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 Forest: No explicit optimizer; uses decision trees.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Metrics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Classification Report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Precision, Recall, F1-Score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Confusion Matrix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True/False Positives/Negatives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Proportion of correct predictions.</a:t>
            </a:r>
          </a:p>
        </p:txBody>
      </p:sp>
    </p:spTree>
    <p:extLst>
      <p:ext uri="{BB962C8B-B14F-4D97-AF65-F5344CB8AC3E}">
        <p14:creationId xmlns:p14="http://schemas.microsoft.com/office/powerpoint/2010/main" val="2846132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56DEB3-B9DA-AD9C-054B-43C2DAA3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107-9F7B-C7C5-7039-953C194A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180" y="670560"/>
            <a:ext cx="9800446" cy="675640"/>
          </a:xfrm>
        </p:spPr>
        <p:txBody>
          <a:bodyPr/>
          <a:lstStyle/>
          <a:p>
            <a:r>
              <a:rPr lang="en-IN" sz="3200" dirty="0"/>
              <a:t>Experimental Setup - Datasets and Preprocessing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6865BEF-438F-A5C1-73FD-FC2F110BC92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59180" y="1859339"/>
            <a:ext cx="980044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DATASETS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Sentiment Analysis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(Kaggle) for headlines.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Yahoo Finance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stock market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PREPROCESSING STEPS: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analysis applied to headlines.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Stock data cleaned and merged with sentiment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312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0AB45A-5EB6-48CE-B601-8E005B91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DD12-73C0-D2E0-45D3-1BB61194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84" y="313928"/>
            <a:ext cx="6788150" cy="472440"/>
          </a:xfrm>
        </p:spPr>
        <p:txBody>
          <a:bodyPr/>
          <a:lstStyle/>
          <a:p>
            <a:r>
              <a:rPr lang="en-IN" sz="3200" b="1" dirty="0"/>
              <a:t>Results - Model Evaluation Metrics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16161A-2B6A-0B3B-5833-B96B74E64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89" y="1687013"/>
            <a:ext cx="5267711" cy="417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69C72E-A64A-CB98-7C87-3DCB4A881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59" y="1687013"/>
            <a:ext cx="5524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59D4-265F-16E2-FBF2-E76FAC302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704" y="763605"/>
            <a:ext cx="6788150" cy="472440"/>
          </a:xfrm>
        </p:spPr>
        <p:txBody>
          <a:bodyPr/>
          <a:lstStyle/>
          <a:p>
            <a:r>
              <a:rPr lang="en-IN" sz="3200" b="1" dirty="0"/>
              <a:t>Results - Model Evaluation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C13CC5-F811-F9C1-472C-C79B5752A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9" y="1815966"/>
            <a:ext cx="5524500" cy="426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23B40A-5056-C308-CE3E-C62B34A91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23" y="1815966"/>
            <a:ext cx="5746086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96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4D6660-F62A-A50A-7F75-DB54D12E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231D-96B6-809A-D091-D24655D3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467360"/>
            <a:ext cx="10873740" cy="482600"/>
          </a:xfrm>
        </p:spPr>
        <p:txBody>
          <a:bodyPr/>
          <a:lstStyle/>
          <a:p>
            <a:r>
              <a:rPr lang="en-IN" sz="3200" dirty="0"/>
              <a:t>Results - Model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DCBFB6-DC2C-8F17-3F89-D83BD3936AB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89358" y="1804008"/>
            <a:ext cx="3419574" cy="129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COMPARISON OF MODELS: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Logistic Regression: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81%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 Forest: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82%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70A77-8C61-50C5-E93E-981F12D6B8A7}"/>
              </a:ext>
            </a:extLst>
          </p:cNvPr>
          <p:cNvSpPr txBox="1"/>
          <p:nvPr/>
        </p:nvSpPr>
        <p:spPr>
          <a:xfrm>
            <a:off x="989358" y="3809545"/>
            <a:ext cx="3630529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Insights: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Positive sentiment correlates with stock price rises.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Negative sentiment causes price falls, especially short-term.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437515-24C7-D644-AF0B-342F6204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932" y="1310235"/>
            <a:ext cx="7354207" cy="473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70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B3D485-C384-5E61-5852-D59C635D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671C-6E5D-CA14-B300-ABCB67E6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568960"/>
            <a:ext cx="10873740" cy="594360"/>
          </a:xfrm>
        </p:spPr>
        <p:txBody>
          <a:bodyPr/>
          <a:lstStyle/>
          <a:p>
            <a:r>
              <a:rPr lang="en-IN" sz="3200" dirty="0"/>
              <a:t>Challenges in Sentiment Interpretation</a:t>
            </a:r>
            <a:endParaRPr lang="en-IN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86C179-9204-D3E8-1A36-3956C4334F8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59130" y="1554640"/>
            <a:ext cx="7115744" cy="374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CHALLENGES FACED:</a:t>
            </a:r>
            <a:endParaRPr lang="en-U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Ambiguity:</a:t>
            </a: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Headlines with mixed sentiment.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Timing Lag:</a:t>
            </a: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Stock prices don’t always react immediately to news.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Market Noise:</a:t>
            </a: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Not all news affects stock prices equally.</a:t>
            </a:r>
          </a:p>
          <a:p>
            <a:pPr marL="457200" lvl="1" indent="0">
              <a:buNone/>
            </a:pPr>
            <a:endParaRPr lang="en-U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WE OVERCAME THESE CHALLENGES:</a:t>
            </a:r>
            <a:endParaRPr lang="en-U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By combining sentiment and historical stock data to create a more comprehensive predictive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58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7C25BB-69D5-4E90-40E1-2DAEB430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C645-5C99-66EE-F83D-53CC7902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50240"/>
            <a:ext cx="10873740" cy="594360"/>
          </a:xfrm>
        </p:spPr>
        <p:txBody>
          <a:bodyPr/>
          <a:lstStyle/>
          <a:p>
            <a:r>
              <a:rPr lang="en-US" sz="3200" b="1" dirty="0"/>
              <a:t>Future Work and 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F01DAE-C278-70AF-D633-F99BFD49EA2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94360" y="1523143"/>
            <a:ext cx="1025460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DIRECTIONS: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Expanding Data Sources: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Integrating social media sentiment from Twitter, Reddit, etc.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Leveraging Advanced Models: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Exploring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GPT-based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deeper sentiment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 Predictions: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Building a live pipeline for stock market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research demonstrates that sentiment analysis can significantly improve stock market predictions, and </a:t>
            </a:r>
            <a:r>
              <a:rPr lang="en-US" alt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could further work on this by adding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LSTM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will be well-suited to capture both sentiment and time-series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585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24E888-5805-35CB-F9A5-8ECF760F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7A77-50B1-BF8A-FE96-BC5D0B19C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360"/>
            <a:ext cx="10873740" cy="817880"/>
          </a:xfrm>
        </p:spPr>
        <p:txBody>
          <a:bodyPr/>
          <a:lstStyle/>
          <a:p>
            <a:r>
              <a:rPr lang="en-IN" sz="3200" dirty="0"/>
              <a:t>References: </a:t>
            </a:r>
            <a:r>
              <a:rPr lang="en-US" sz="3200" b="1" dirty="0"/>
              <a:t>"Acknowledging Knowledge: Citing Our Inspirations"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3EC6DA-5DAC-982D-EC12-CD4BE1344BC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84200" y="1309513"/>
            <a:ext cx="11150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Bollen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J., Mao, H., &amp; Zeng, X. (2011).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Twitter mood predicts the stock market.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Journal of Computational Science, 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(1), 1-8.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https://doi.org/10.1016/j.jocs.2010.12.007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Hu, X., Zhang, H., &amp; Xie, S. (2020).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News and Stock Market Prediction using Machine Learning: A Review.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Engineering, 11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(2), 99-112.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https://doi.org/10.1109/FE.2020.8457789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Kaggle (2020).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 Sentiment Analysis Dataset. Kaggle.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https://www.kaggle.com/datasets/sbhatti/financial-sentiment-analysis</a:t>
            </a:r>
            <a:endParaRPr lang="en-US" altLang="en-US" sz="1600" dirty="0">
              <a:solidFill>
                <a:schemeClr val="accent1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Yahoo Finance (2020).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Historical Stock Data. Yahoo Finance API.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https://www.yahoo.com/finance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VaderSentiment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(2020).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VADER Sentiment Analysis. Python Package.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https://github.com/cjhutto/vaderSentiment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TextBlob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(2020).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TextBlob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Simplified Text Processing. Python Package.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https://textblob.readthedocs.io/en/dev/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Chollet, F. (2015).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Keras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Deep Learning for Python. GitHub Repository.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https://github.com/keras-team/keras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83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2E2F-D4C2-EFC1-09AF-FAB45D89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063" y="2417545"/>
            <a:ext cx="2380381" cy="817880"/>
          </a:xfrm>
        </p:spPr>
        <p:txBody>
          <a:bodyPr/>
          <a:lstStyle/>
          <a:p>
            <a:pPr algn="ctr"/>
            <a:r>
              <a:rPr lang="en-IN" sz="3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030017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274</TotalTime>
  <Words>1231</Words>
  <Application>Microsoft Office PowerPoint</Application>
  <PresentationFormat>Widescreen</PresentationFormat>
  <Paragraphs>140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Custom</vt:lpstr>
      <vt:lpstr>CIS 530: ADVANCED DATA MINING   Team Project  Title: "Critical Applications: Predicting Stock Market Trends Through Sentiment Analysis and Machine Learning“</vt:lpstr>
      <vt:lpstr>Introduction to Stock Market Prediction through Sentiment Analysis</vt:lpstr>
      <vt:lpstr>The Power of Sentiment in Financial Markets</vt:lpstr>
      <vt:lpstr>Related Work: Sentiment Analysis in Stock Market Forecasting</vt:lpstr>
      <vt:lpstr>Problem Definition: Predicting Stock Trends</vt:lpstr>
      <vt:lpstr>Methodology - Extracting and Processing Sentiment</vt:lpstr>
      <vt:lpstr>Methodology - Feature Engineering</vt:lpstr>
      <vt:lpstr>Model Development </vt:lpstr>
      <vt:lpstr>Training and Evaluation - Optimizing the Model</vt:lpstr>
      <vt:lpstr>Experimental Setup - Datasets and Preprocessing</vt:lpstr>
      <vt:lpstr>Results - Model Evaluation Metrics</vt:lpstr>
      <vt:lpstr>Results - Model Evaluation Metrics</vt:lpstr>
      <vt:lpstr>Results - Model Performance</vt:lpstr>
      <vt:lpstr>Challenges in Sentiment Interpretation</vt:lpstr>
      <vt:lpstr>Future Work and Conclusion</vt:lpstr>
      <vt:lpstr>References: "Acknowledging Knowledge: Citing Our Inspirations"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Likhitha David</dc:creator>
  <cp:lastModifiedBy>Likhitha David</cp:lastModifiedBy>
  <cp:revision>12</cp:revision>
  <dcterms:created xsi:type="dcterms:W3CDTF">2024-12-06T05:40:09Z</dcterms:created>
  <dcterms:modified xsi:type="dcterms:W3CDTF">2026-01-30T16:20:52Z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